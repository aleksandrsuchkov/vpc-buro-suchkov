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noFill/>
          <a:ln w="15240">
            <a:solidFill>
              <a:srgbClr val="3A3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3383280"/>
            <a:ext cx="3108960" cy="3108960"/>
          </a:xfrm>
          <a:prstGeom prst="ellipse">
            <a:avLst/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2A07A"/>
                </a:solidFill>
                <a:latin typeface="Calibri"/>
              </a:rPr>
              <a:t>VALUE PROPOSITION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Бюро Сучкова </a:t>
            </a:r>
            <a:r>
              <a:rPr sz="4000" b="1" i="0">
                <a:solidFill>
                  <a:srgbClr val="C2602F"/>
                </a:solidFill>
                <a:latin typeface="Calibri"/>
              </a:rPr>
              <a:t>×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девелоперы России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FC7BC"/>
                </a:solidFill>
                <a:latin typeface="Calibri"/>
              </a:rPr>
              <a:t>Профиль клиента и карта ценности на свежей аналитике рынка Q2 2026,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FC7BC"/>
                </a:solidFill>
                <a:latin typeface="Calibri"/>
              </a:rPr>
              <a:t>209 докладах форума «Движение» и каталоге из 41 услуги.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B98F"/>
                </a:solidFill>
                <a:latin typeface="Calibri"/>
              </a:rPr>
              <a:t>14,25%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961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FA69A"/>
                </a:solidFill>
                <a:latin typeface="Calibri"/>
              </a:rPr>
              <a:t>ставка ЦБ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5074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B98F"/>
                </a:solidFill>
                <a:latin typeface="Calibri"/>
              </a:rPr>
              <a:t>69%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55961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FA69A"/>
                </a:solidFill>
                <a:latin typeface="Calibri"/>
              </a:rPr>
              <a:t>распроданность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5074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B98F"/>
                </a:solidFill>
                <a:latin typeface="Calibri"/>
              </a:rPr>
              <a:t>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55961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FA69A"/>
                </a:solidFill>
                <a:latin typeface="Calibri"/>
              </a:rPr>
              <a:t>выполнили план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5074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B98F"/>
                </a:solidFill>
                <a:latin typeface="Calibri"/>
              </a:rPr>
              <a:t>×2–3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55961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FA69A"/>
                </a:solidFill>
                <a:latin typeface="Calibri"/>
              </a:rPr>
              <a:t>цена лида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50749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4B98F"/>
                </a:solidFill>
                <a:latin typeface="Calibri"/>
              </a:rPr>
              <a:t>85–90%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4896" y="55961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FA69A"/>
                </a:solidFill>
                <a:latin typeface="Calibri"/>
              </a:rPr>
              <a:t>агентский канал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479"/>
                </a:solidFill>
                <a:latin typeface="Calibri"/>
              </a:rPr>
              <a:t>Данные апрель–июнь 2026 · источники: Аналитика ДОМ.РФ, ЦБ РФ, ЕРЗ.РФ, РБК, Коммерсантъ, Sostav, GMK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893B"/>
                </a:solidFill>
                <a:latin typeface="Calibri"/>
              </a:rPr>
              <a:t>ПОЧЕМУ СЕЙЧАС · РЫНОК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30F"/>
                </a:solidFill>
                <a:latin typeface="Calibri"/>
              </a:rPr>
              <a:t>Деньги дорогие, спрос просел, ошибка стала фатальной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2938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F6F6B"/>
                </a:solidFill>
                <a:latin typeface="Calibri"/>
              </a:rPr>
              <a:t>14,25%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743200"/>
            <a:ext cx="29992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443C"/>
                </a:solidFill>
                <a:latin typeface="Calibri"/>
              </a:rPr>
              <a:t>ключевая ставка ЦБ (19.06.26); рыночная ипотека ≈20% — спрос «заморожен»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69164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92938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BE4127"/>
                </a:solidFill>
                <a:latin typeface="Calibri"/>
              </a:rPr>
              <a:t>69%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29992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443C"/>
                </a:solidFill>
                <a:latin typeface="Calibri"/>
              </a:rPr>
              <a:t>распроданность стройки (норма ~70%); 28% портфеля ниже нормы, 34 региона с дефицитом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69164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7" y="192938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BE4127"/>
                </a:solidFill>
                <a:latin typeface="Calibri"/>
              </a:rPr>
              <a:t>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743200"/>
            <a:ext cx="29992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443C"/>
                </a:solidFill>
                <a:latin typeface="Calibri"/>
              </a:rPr>
              <a:t>девелоперов выполнили план продаж в I кв.; 70% ждут падения рентабельности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6908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30682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BE4127"/>
                </a:solidFill>
                <a:latin typeface="Calibri"/>
              </a:rPr>
              <a:t>5–10%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5120640"/>
            <a:ext cx="29992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443C"/>
                </a:solidFill>
                <a:latin typeface="Calibri"/>
              </a:rPr>
              <a:t>маржа проектов при долге 12–16%; до 30% рискуют уйти в убыток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406908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30682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C2602F"/>
                </a:solidFill>
                <a:latin typeface="Calibri"/>
              </a:rPr>
              <a:t>×2–3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120640"/>
            <a:ext cx="29992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443C"/>
                </a:solidFill>
                <a:latin typeface="Calibri"/>
              </a:rPr>
              <a:t>рост стоимости лида к 2023; премиум CPL +88%; Циан +86–93% за 2 года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4069080"/>
            <a:ext cx="3511296" cy="219456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7" y="430682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C2602F"/>
                </a:solidFill>
                <a:latin typeface="Calibri"/>
              </a:rPr>
              <a:t>85–90%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5120640"/>
            <a:ext cx="29992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443C"/>
                </a:solidFill>
                <a:latin typeface="Calibri"/>
              </a:rPr>
              <a:t>доля агентского канала в сделках (норма 45–55%) — слабость своих отделов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6422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A443C"/>
                </a:solidFill>
                <a:latin typeface="Calibri"/>
              </a:rPr>
              <a:t>Источники: Аналитика ДОМ.РФ, ЦБ РФ, ЕРЗ.РФ, РБК Недвижимость, Коммерсантъ, Эксперт, Sostav, Dviga, GMK · Q2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914400"/>
            <a:ext cx="3291840" cy="3291840"/>
          </a:xfrm>
          <a:prstGeom prst="ellipse">
            <a:avLst/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2A07A"/>
                </a:solidFill>
                <a:latin typeface="Calibri"/>
              </a:rPr>
              <a:t>ЦЕНТРАЛЬНЫЙ ТЕЗИС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4241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В этой реальности нельзя выиграть, </a:t>
            </a:r>
            <a:r>
              <a:rPr sz="3000" b="1" i="0">
                <a:solidFill>
                  <a:srgbClr val="F4B98F"/>
                </a:solidFill>
                <a:latin typeface="Calibri"/>
              </a:rPr>
              <a:t>докупая рекламу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Выигрывает тот, кто отстроил продукт, бренд и воронку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как </a:t>
            </a:r>
            <a:r>
              <a:rPr sz="3000" b="1" i="0">
                <a:solidFill>
                  <a:srgbClr val="F4B98F"/>
                </a:solidFill>
                <a:latin typeface="Calibri"/>
              </a:rPr>
              <a:t>единую систему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029200"/>
            <a:ext cx="9966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8893B"/>
                </a:solidFill>
                <a:latin typeface="Calibri"/>
              </a:rPr>
              <a:t>Ценностное обещание Бюро Сучкова: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DDD4C8"/>
                </a:solidFill>
                <a:latin typeface="Calibri"/>
              </a:rPr>
              <a:t>единое окно полного цикла — продукт, исследования, бренд, сайты, перформанс, консалтинг продаж —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DDD4C8"/>
                </a:solidFill>
                <a:latin typeface="Calibri"/>
              </a:rPr>
              <a:t>с ответственностью за результат «лиды → сделки», а не за клики.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893B"/>
                </a:solidFill>
                <a:latin typeface="Calibri"/>
              </a:rPr>
              <a:t>ПРОФИЛЬ КЛИЕНТА · СЛОЙ 1 ИЗ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130F"/>
                </a:solidFill>
                <a:latin typeface="Calibri"/>
              </a:rPr>
              <a:t>Собственник / генеральный директор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8A3F18"/>
                </a:solidFill>
                <a:latin typeface="Calibri"/>
              </a:rPr>
              <a:t>Экономический покупатель — мыслит прибылью проекта, сроками выборки эскроу, рисками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AEFE6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157984"/>
            <a:ext cx="457200" cy="457200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2128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602F"/>
                </a:solidFill>
                <a:latin typeface="Calibri"/>
              </a:rPr>
              <a:t>ЗАДАЧИ ·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34640"/>
            <a:ext cx="300837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Выполнить план продаж и держать темп выборки эскроу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Верное решение на входе: продукт × локация × цена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Защитить маржу 5–10% и кэш-флоу при дорогом долге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Масштабироваться / выйти в регионы без раздувания штата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Управлять «по цифрам, а не тушить пожары»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92024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45736" y="2157984"/>
            <a:ext cx="457200" cy="457200"/>
          </a:xfrm>
          <a:prstGeom prst="ellipse">
            <a:avLst/>
          </a:prstGeom>
          <a:solidFill>
            <a:srgbClr val="BE4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22128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E4127"/>
                </a:solidFill>
                <a:latin typeface="Calibri"/>
              </a:rPr>
              <a:t>БОЛИ · PAINS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834640"/>
            <a:ext cx="300837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 b="0">
                <a:solidFill>
                  <a:srgbClr val="16130F"/>
                </a:solidFill>
                <a:latin typeface="Calibri"/>
              </a:rPr>
              <a:t>«Каждый месяц простоя продаж = потери на процентах»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 b="0">
                <a:solidFill>
                  <a:srgbClr val="16130F"/>
                </a:solidFill>
                <a:latin typeface="Calibri"/>
              </a:rPr>
              <a:t>«2026 — год первых убыточных проектов»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Затоваривание: ~3,5 трлн ₽ капитала заморожено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Банк смотрит на всю ГК → риск кросс-дефолта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«Доверие подменяло управление» — потеря контроля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92024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E6F2EC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30768" y="2157984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2128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7D5B"/>
                </a:solidFill>
                <a:latin typeface="Calibri"/>
              </a:rPr>
              <a:t>ВЫГОДЫ · GAINS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834640"/>
            <a:ext cx="300837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Ускорение распроданности → дешевле проектное финанс.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Премия к цене за бренд/продукт (в кризис −вдвое медленнее)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Уверенность входа: решение проверено данными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Рост прибыли за качество решений (+250 млн ₽ — RBI)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Окно 2027: дефицит готового + рост цен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893B"/>
                </a:solidFill>
                <a:latin typeface="Calibri"/>
              </a:rPr>
              <a:t>ПРОФИЛЬ КЛИЕНТА · СЛОЙ 2 ИЗ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130F"/>
                </a:solidFill>
                <a:latin typeface="Calibri"/>
              </a:rPr>
              <a:t>Коммерческий директор / директор по продажам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8A3F18"/>
                </a:solidFill>
                <a:latin typeface="Calibri"/>
              </a:rPr>
              <a:t>Отвечает за выполнение плана, конверсию воронки, темпы, агентский канал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AEFE6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157984"/>
            <a:ext cx="457200" cy="457200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2128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602F"/>
                </a:solidFill>
                <a:latin typeface="Calibri"/>
              </a:rPr>
              <a:t>ЗАДАЧИ ·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34640"/>
            <a:ext cx="300837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Выполнить план при просевшем спросе без роста бюджета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Поднять конверсию воронки: лид → бронь → сделка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Удержать и прогреть длинный лид (51 касание, &gt;90 дней)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Усилить свой отдел продаж и агентский канал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Заместить умирающий «рассрочечный» трафик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92024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45736" y="2157984"/>
            <a:ext cx="457200" cy="457200"/>
          </a:xfrm>
          <a:prstGeom prst="ellipse">
            <a:avLst/>
          </a:prstGeom>
          <a:solidFill>
            <a:srgbClr val="BE4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22128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E4127"/>
                </a:solidFill>
                <a:latin typeface="Calibri"/>
              </a:rPr>
              <a:t>БОЛИ · PAINS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834640"/>
            <a:ext cx="300837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 b="0">
                <a:solidFill>
                  <a:srgbClr val="16130F"/>
                </a:solidFill>
                <a:latin typeface="Calibri"/>
              </a:rPr>
              <a:t>«Лиды есть — конверсии нет»; больше лидов ≠ продаж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 b="0">
                <a:solidFill>
                  <a:srgbClr val="16130F"/>
                </a:solidFill>
                <a:latin typeface="Calibri"/>
              </a:rPr>
              <a:t>«89% застройщиков не перезвонили»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Конверсия в целевой лид упала 44% → 32%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Ипотечная воронка сломана — одобряют ⅓ заявок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Зависимость от агентов 85–90%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92024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E6F2EC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30768" y="2157984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2128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7D5B"/>
                </a:solidFill>
                <a:latin typeface="Calibri"/>
              </a:rPr>
              <a:t>ВЫГОДЫ · GAINS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834640"/>
            <a:ext cx="300837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Рост конверсии лид→сделка (кейсы 6,9% → 15,2%)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Динамическое ценообразование +3–19% выручки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Сквозная аналитика: реклама в 81% сделок, матчинг &gt;90%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ИИ-аналитика 100% звонков, скоринг, Next Best Action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Меньше теряем клиента между этапами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893B"/>
                </a:solidFill>
                <a:latin typeface="Calibri"/>
              </a:rPr>
              <a:t>ПРОФИЛЬ КЛИЕНТА · СЛОЙ 3 ИЗ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130F"/>
                </a:solidFill>
                <a:latin typeface="Calibri"/>
              </a:rPr>
              <a:t>Директор по маркетингу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8A3F18"/>
                </a:solidFill>
                <a:latin typeface="Calibri"/>
              </a:rPr>
              <a:t>Отвечает за лиды, стоимость заявки (CAC), узнаваемость, бренд и бюджет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AEFE6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157984"/>
            <a:ext cx="457200" cy="457200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2128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602F"/>
                </a:solidFill>
                <a:latin typeface="Calibri"/>
              </a:rPr>
              <a:t>ЗАДАЧИ ·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34640"/>
            <a:ext cx="300837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Снизить CAC и поднять конверсию — не объём заявок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Выделиться среди однотипной рекламы / баннерной слепоты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Узнаваемость в новом городе; единый бренд до УК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Присутствовать в AI-выдаче (GEO/SEO)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C2602F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Диверсифицировать каналы — классифайды дорожают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92024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45736" y="2157984"/>
            <a:ext cx="457200" cy="457200"/>
          </a:xfrm>
          <a:prstGeom prst="ellipse">
            <a:avLst/>
          </a:prstGeom>
          <a:solidFill>
            <a:srgbClr val="BE4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22128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E4127"/>
                </a:solidFill>
                <a:latin typeface="Calibri"/>
              </a:rPr>
              <a:t>БОЛИ · PAINS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834640"/>
            <a:ext cx="300837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 b="0">
                <a:solidFill>
                  <a:srgbClr val="16130F"/>
                </a:solidFill>
                <a:latin typeface="Calibri"/>
              </a:rPr>
              <a:t>«Бюджет растёт, заявки дорожают, продажи не растут»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Классифайды = налог (Циан +86–93%, ~400 тыс ₽/мес)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«Дешёвый лид ≠ сделка»; боты до 50% бюджета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Раздробленный маркетинг → размытый бренд, разный ToV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BE4127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Конкурируем со вторичкой (×9 внимания покупателя)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92024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E6F2EC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30768" y="2157984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2128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7D5B"/>
                </a:solidFill>
                <a:latin typeface="Calibri"/>
              </a:rPr>
              <a:t>ВЫГОДЫ · GAINS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834640"/>
            <a:ext cx="300837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Узнаваемость = предиктор продаж («4-я продажа — бренд»)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Сильный ToV «+85% к визиту», CTA → 96% записей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Брендформанс снижает общий CPL, греет холодных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Единый бренд от рекламы до управляющей компании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80" b="1">
                <a:solidFill>
                  <a:srgbClr val="2E7D5B"/>
                </a:solidFill>
                <a:latin typeface="Calibri"/>
              </a:rPr>
              <a:t>•  </a:t>
            </a:r>
            <a:r>
              <a:rPr sz="1180">
                <a:solidFill>
                  <a:srgbClr val="16130F"/>
                </a:solidFill>
                <a:latin typeface="Calibri"/>
              </a:rPr>
              <a:t>Креатив, «который замечают, запоминают, обсуждают»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893B"/>
                </a:solidFill>
                <a:latin typeface="Calibri"/>
              </a:rPr>
              <a:t>СЕГМЕНТНЫЕ АКЦЕНТЫ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6130F"/>
                </a:solidFill>
                <a:latin typeface="Calibri"/>
              </a:rPr>
              <a:t>Ядро болей одно — различается акцент по сегментам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212080" cy="205740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057400"/>
            <a:ext cx="420624" cy="420624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09397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130F"/>
                </a:solidFill>
                <a:latin typeface="Calibri"/>
              </a:rPr>
              <a:t>Малый / новый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6974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E4127"/>
                </a:solidFill>
                <a:latin typeface="Calibri"/>
              </a:rPr>
              <a:t>Боль: </a:t>
            </a:r>
            <a:r>
              <a:rPr sz="1200" b="0" i="0">
                <a:solidFill>
                  <a:srgbClr val="4A443C"/>
                </a:solidFill>
                <a:latin typeface="Calibri"/>
              </a:rPr>
              <a:t>«Первый крупный запуск, цена ошибки фатальна, нет бренда и инхауса»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264408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5B"/>
                </a:solidFill>
                <a:latin typeface="Calibri"/>
              </a:rPr>
              <a:t>Покупает: </a:t>
            </a:r>
            <a:r>
              <a:rPr sz="1200" b="0" i="0">
                <a:solidFill>
                  <a:srgbClr val="4A443C"/>
                </a:solidFill>
                <a:latin typeface="Calibri"/>
              </a:rPr>
              <a:t>Полный цикл «под ключ», стартовые пакеты → бандл «Безопасный старт»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212080" cy="205740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057400"/>
            <a:ext cx="420624" cy="420624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09397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130F"/>
                </a:solidFill>
                <a:latin typeface="Calibri"/>
              </a:rPr>
              <a:t>Региональный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974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E4127"/>
                </a:solidFill>
                <a:latin typeface="Calibri"/>
              </a:rPr>
              <a:t>Боль: </a:t>
            </a:r>
            <a:r>
              <a:rPr sz="1200" b="0" i="0">
                <a:solidFill>
                  <a:srgbClr val="4A443C"/>
                </a:solidFill>
                <a:latin typeface="Calibri"/>
              </a:rPr>
              <a:t>«Выход в новый город — ноунейм, не знаем локальную ЦА и конкурентов»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264408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5B"/>
                </a:solidFill>
                <a:latin typeface="Calibri"/>
              </a:rPr>
              <a:t>Покупает: </a:t>
            </a:r>
            <a:r>
              <a:rPr sz="1200" b="0" i="0">
                <a:solidFill>
                  <a:srgbClr val="4A443C"/>
                </a:solidFill>
                <a:latin typeface="Calibri"/>
              </a:rPr>
              <a:t>Исследования + репозиционирование локации → бандл «Вход в новый город»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41648"/>
            <a:ext cx="5212080" cy="205740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315968"/>
            <a:ext cx="420624" cy="420624"/>
          </a:xfrm>
          <a:prstGeom prst="ellipse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3525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130F"/>
                </a:solidFill>
                <a:latin typeface="Calibri"/>
              </a:rPr>
              <a:t>Федеральный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956048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E4127"/>
                </a:solidFill>
                <a:latin typeface="Calibri"/>
              </a:rPr>
              <a:t>Боль: </a:t>
            </a:r>
            <a:r>
              <a:rPr sz="1200" b="0" i="0">
                <a:solidFill>
                  <a:srgbClr val="4A443C"/>
                </a:solidFill>
                <a:latin typeface="Calibri"/>
              </a:rPr>
              <a:t>Развитый инхаус; масштаб, однотипность, разрыв «пилот ИИ → эффект» (94%→12%)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522976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5B"/>
                </a:solidFill>
                <a:latin typeface="Calibri"/>
              </a:rPr>
              <a:t>Покупает: </a:t>
            </a:r>
            <a:r>
              <a:rPr sz="1200" b="0" i="0">
                <a:solidFill>
                  <a:srgbClr val="4A443C"/>
                </a:solidFill>
                <a:latin typeface="Calibri"/>
              </a:rPr>
              <a:t>Точечная экспертиза: исследования, спецпроекты, продуктовый консалтинг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41648"/>
            <a:ext cx="5212080" cy="205740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4315968"/>
            <a:ext cx="420624" cy="42062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43525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130F"/>
                </a:solidFill>
                <a:latin typeface="Calibri"/>
              </a:rPr>
              <a:t>Курортный / премиум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956048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E4127"/>
                </a:solidFill>
                <a:latin typeface="Calibri"/>
              </a:rPr>
              <a:t>Боль: </a:t>
            </a:r>
            <a:r>
              <a:rPr sz="1200" b="0" i="0">
                <a:solidFill>
                  <a:srgbClr val="4A443C"/>
                </a:solidFill>
                <a:latin typeface="Calibri"/>
              </a:rPr>
              <a:t>«Продать удалённо то, что не видели»; инвест-логика, юр.страх (Крым)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522976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5B"/>
                </a:solidFill>
                <a:latin typeface="Calibri"/>
              </a:rPr>
              <a:t>Покупает: </a:t>
            </a:r>
            <a:r>
              <a:rPr sz="1200" b="0" i="0">
                <a:solidFill>
                  <a:srgbClr val="4A443C"/>
                </a:solidFill>
                <a:latin typeface="Calibri"/>
              </a:rPr>
              <a:t>Легенда места + бренд + видео + длинный прогрев → бандл «Курортный»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4E4A"/>
                </a:solidFill>
                <a:latin typeface="Calibri"/>
              </a:rPr>
              <a:t>КАРТА ЦЕННОСТИ · VALUE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130F"/>
                </a:solidFill>
                <a:latin typeface="Calibri"/>
              </a:rPr>
              <a:t>Что предлагает Бюро Сучкова: 41 услуга, 9 направлений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4475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14E4A"/>
                </a:solidFill>
                <a:latin typeface="Calibri"/>
              </a:rPr>
              <a:t>ПРОДУКТЫ И УСЛУГИ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470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14E4A"/>
                </a:solidFill>
                <a:latin typeface="Calibri"/>
              </a:rPr>
              <a:t>Продукт и стратегия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500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14E4A"/>
                </a:solidFill>
                <a:latin typeface="Calibri"/>
              </a:rPr>
              <a:t>Исследования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85292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14E4A"/>
                </a:solidFill>
                <a:latin typeface="Calibri"/>
              </a:rPr>
              <a:t>Брендинг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3558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14E4A"/>
                </a:solidFill>
                <a:latin typeface="Calibri"/>
              </a:rPr>
              <a:t>Креатив и коммуникации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49039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587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14E4A"/>
                </a:solidFill>
                <a:latin typeface="Calibri"/>
              </a:rPr>
              <a:t>Сайты и лендинги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5196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3616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14E4A"/>
                </a:solidFill>
                <a:latin typeface="Calibri"/>
              </a:rPr>
              <a:t>Перформанс-маркетинг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86460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14E4A"/>
                </a:solidFill>
                <a:latin typeface="Calibri"/>
              </a:rPr>
              <a:t>SEO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5780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536752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14E4A"/>
                </a:solidFill>
                <a:latin typeface="Calibri"/>
              </a:rPr>
              <a:t>Комплексные услуги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6072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587044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8893B"/>
                </a:solidFill>
                <a:latin typeface="Calibri"/>
              </a:rPr>
              <a:t>★ Продажи для девелоперов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1783080"/>
            <a:ext cx="6720840" cy="2331720"/>
          </a:xfrm>
          <a:prstGeom prst="roundRect">
            <a:avLst>
              <a:gd name="adj" fmla="val 6000"/>
            </a:avLst>
          </a:prstGeom>
          <a:solidFill>
            <a:srgbClr val="E6F2EC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92040" y="2011680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2066543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7D5B"/>
                </a:solidFill>
                <a:latin typeface="Calibri"/>
              </a:rPr>
              <a:t>СОЗДАТЕЛИ ВЫГОД · GAIN CREATORS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2697480"/>
            <a:ext cx="6172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1">
                <a:solidFill>
                  <a:srgbClr val="2E7D5B"/>
                </a:solidFill>
                <a:latin typeface="Calibri"/>
              </a:rPr>
              <a:t>•  </a:t>
            </a:r>
            <a:r>
              <a:rPr sz="1230">
                <a:solidFill>
                  <a:srgbClr val="16130F"/>
                </a:solidFill>
                <a:latin typeface="Calibri"/>
              </a:rPr>
              <a:t>Премия к цене за бренд и продукт; ускорение распроданности → дешевле эскроу/ПФ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1">
                <a:solidFill>
                  <a:srgbClr val="2E7D5B"/>
                </a:solidFill>
                <a:latin typeface="Calibri"/>
              </a:rPr>
              <a:t>•  </a:t>
            </a:r>
            <a:r>
              <a:rPr sz="1230">
                <a:solidFill>
                  <a:srgbClr val="16130F"/>
                </a:solidFill>
                <a:latin typeface="Calibri"/>
              </a:rPr>
              <a:t>Конверсия вместо бюджета: те же лиды → больше сделок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1">
                <a:solidFill>
                  <a:srgbClr val="2E7D5B"/>
                </a:solidFill>
                <a:latin typeface="Calibri"/>
              </a:rPr>
              <a:t>•  </a:t>
            </a:r>
            <a:r>
              <a:rPr sz="1230">
                <a:solidFill>
                  <a:srgbClr val="16130F"/>
                </a:solidFill>
                <a:latin typeface="Calibri"/>
              </a:rPr>
              <a:t>Узнаваемость с нуля + «легенда места» при выходе в город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1">
                <a:solidFill>
                  <a:srgbClr val="2E7D5B"/>
                </a:solidFill>
                <a:latin typeface="Calibri"/>
              </a:rPr>
              <a:t>•  </a:t>
            </a:r>
            <a:r>
              <a:rPr sz="1230">
                <a:solidFill>
                  <a:srgbClr val="16130F"/>
                </a:solidFill>
                <a:latin typeface="Calibri"/>
              </a:rPr>
              <a:t>Единое окно: один ToV, одна ответственность «лиды → сделки»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4251960"/>
            <a:ext cx="6720840" cy="1965960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2040" y="4480560"/>
            <a:ext cx="457200" cy="457200"/>
          </a:xfrm>
          <a:prstGeom prst="ellipse">
            <a:avLst/>
          </a:prstGeom>
          <a:solidFill>
            <a:srgbClr val="BE4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535424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E4127"/>
                </a:solidFill>
                <a:latin typeface="Calibri"/>
              </a:rPr>
              <a:t>ОБЕЗБОЛИВАЮЩИЕ · PAIN RELIEVERS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8" y="5120640"/>
            <a:ext cx="6172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1">
                <a:solidFill>
                  <a:srgbClr val="BE4127"/>
                </a:solidFill>
                <a:latin typeface="Calibri"/>
              </a:rPr>
              <a:t>•  </a:t>
            </a:r>
            <a:r>
              <a:rPr sz="1230">
                <a:solidFill>
                  <a:srgbClr val="16130F"/>
                </a:solidFill>
                <a:latin typeface="Calibri"/>
              </a:rPr>
              <a:t>Решение на входе проверено данными (продукт/локация/цена)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1">
                <a:solidFill>
                  <a:srgbClr val="BE4127"/>
                </a:solidFill>
                <a:latin typeface="Calibri"/>
              </a:rPr>
              <a:t>•  </a:t>
            </a:r>
            <a:r>
              <a:rPr sz="1230">
                <a:solidFill>
                  <a:srgbClr val="16130F"/>
                </a:solidFill>
                <a:latin typeface="Calibri"/>
              </a:rPr>
              <a:t>Разморозка капитала: аудит точек потерь → распродажа без демпинга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30" b="1">
                <a:solidFill>
                  <a:srgbClr val="BE4127"/>
                </a:solidFill>
                <a:latin typeface="Calibri"/>
              </a:rPr>
              <a:t>•  </a:t>
            </a:r>
            <a:r>
              <a:rPr sz="1230">
                <a:solidFill>
                  <a:srgbClr val="16130F"/>
                </a:solidFill>
                <a:latin typeface="Calibri"/>
              </a:rPr>
              <a:t>«Дорогой лид без сделок» → воронка, сайт, каналы, брендформанс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893B"/>
                </a:solidFill>
                <a:latin typeface="Calibri"/>
              </a:rPr>
              <a:t>СООТВЕТСТВИЕ ·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6130F"/>
                </a:solidFill>
                <a:latin typeface="Calibri"/>
              </a:rPr>
              <a:t>Где услуги закрывают боли — логика соответствия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4800600" cy="676656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BE4127"/>
                </a:solidFill>
                <a:latin typeface="Calibri"/>
              </a:rPr>
              <a:t>«Убыточный проект / цена ошибки»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1984248"/>
            <a:ext cx="502920" cy="274320"/>
          </a:xfrm>
          <a:prstGeom prst="rightArrow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4983480" cy="676656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0195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114E4A"/>
                </a:solidFill>
                <a:latin typeface="Calibri"/>
              </a:rPr>
              <a:t>Продукт и стратегия + Исследования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37460"/>
            <a:ext cx="4800600" cy="676656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5633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BE4127"/>
                </a:solidFill>
                <a:latin typeface="Calibri"/>
              </a:rPr>
              <a:t>«Остатки не продаются / план не выполнен»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15000" y="2738628"/>
            <a:ext cx="502920" cy="274320"/>
          </a:xfrm>
          <a:prstGeom prst="rightArrow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537460"/>
            <a:ext cx="4983480" cy="676656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65633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114E4A"/>
                </a:solidFill>
                <a:latin typeface="Calibri"/>
              </a:rPr>
              <a:t>Продажи для девелоперов + Диагностика 3+ + CJM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39"/>
            <a:ext cx="4800600" cy="676656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1071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BE4127"/>
                </a:solidFill>
                <a:latin typeface="Calibri"/>
              </a:rPr>
              <a:t>«Лиды есть — конверсии нет»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15000" y="3493008"/>
            <a:ext cx="502920" cy="274320"/>
          </a:xfrm>
          <a:prstGeom prst="rightArrow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291839"/>
            <a:ext cx="4983480" cy="676656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410711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114E4A"/>
                </a:solidFill>
                <a:latin typeface="Calibri"/>
              </a:rPr>
              <a:t>CJM + UX-аудит + Перформанс + сквозная аналитика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46220"/>
            <a:ext cx="4800600" cy="676656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16509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BE4127"/>
                </a:solidFill>
                <a:latin typeface="Calibri"/>
              </a:rPr>
              <a:t>«Нечем выделиться / ноунейм»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715000" y="4247388"/>
            <a:ext cx="502920" cy="274320"/>
          </a:xfrm>
          <a:prstGeom prst="rightArrow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4046220"/>
            <a:ext cx="4983480" cy="676656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165091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114E4A"/>
                </a:solidFill>
                <a:latin typeface="Calibri"/>
              </a:rPr>
              <a:t>Брендинг + Креатив + Исследования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800600"/>
            <a:ext cx="4800600" cy="676656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91947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BE4127"/>
                </a:solidFill>
                <a:latin typeface="Calibri"/>
              </a:rPr>
              <a:t>«Выход в новый город»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715000" y="5001768"/>
            <a:ext cx="502920" cy="274320"/>
          </a:xfrm>
          <a:prstGeom prst="rightArrow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4800600"/>
            <a:ext cx="4983480" cy="676656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91947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114E4A"/>
                </a:solidFill>
                <a:latin typeface="Calibri"/>
              </a:rPr>
              <a:t>Репозиционирование локации + Исследования контекста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554980"/>
            <a:ext cx="4800600" cy="676656"/>
          </a:xfrm>
          <a:prstGeom prst="roundRect">
            <a:avLst>
              <a:gd name="adj" fmla="val 6000"/>
            </a:avLst>
          </a:prstGeom>
          <a:solidFill>
            <a:srgbClr val="FA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67385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BE4127"/>
                </a:solidFill>
                <a:latin typeface="Calibri"/>
              </a:rPr>
              <a:t>«Раздробленный маркетинг»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715000" y="5756148"/>
            <a:ext cx="502920" cy="274320"/>
          </a:xfrm>
          <a:prstGeom prst="rightArrow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80" y="5554980"/>
            <a:ext cx="4983480" cy="676656"/>
          </a:xfrm>
          <a:prstGeom prst="roundRect">
            <a:avLst>
              <a:gd name="adj" fmla="val 6000"/>
            </a:avLst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67385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80" b="1" i="0">
                <a:solidFill>
                  <a:srgbClr val="114E4A"/>
                </a:solidFill>
                <a:latin typeface="Calibri"/>
              </a:rPr>
              <a:t>Комплексные услуги — единое окно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2A07A"/>
                </a:solidFill>
                <a:latin typeface="Calibri"/>
              </a:rPr>
              <a:t>ГИПОТЕЗЫ БАНДЛОВ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«Продукты от боли» — комбинации под сегмент и ЛПР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1773936"/>
            <a:ext cx="384048" cy="384048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67712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Безопасный старт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80360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8893B"/>
                </a:solidFill>
                <a:latin typeface="Calibri"/>
              </a:rPr>
              <a:t>МАЛЫЙ/НОВЫЙ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12724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C7BC"/>
                </a:solidFill>
                <a:latin typeface="Calibri"/>
              </a:rPr>
              <a:t>продукт+бренд+сайт+перформанс «под ключ»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79" y="1554480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31335" y="1773936"/>
            <a:ext cx="384048" cy="384048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267712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Вход в новый город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880360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8893B"/>
                </a:solidFill>
                <a:latin typeface="Calibri"/>
              </a:rPr>
              <a:t>РЕГИОН/ФЕДЕРАЛ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12724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C7BC"/>
                </a:solidFill>
                <a:latin typeface="Calibri"/>
              </a:rPr>
              <a:t>исследования + легенда места + медийка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6" y="1773936"/>
            <a:ext cx="384048" cy="384048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267712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Разморозка капитала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880360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8893B"/>
                </a:solidFill>
                <a:latin typeface="Calibri"/>
              </a:rPr>
              <a:t>ЗАТОВАРИВАНИЕ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12724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C7BC"/>
                </a:solidFill>
                <a:latin typeface="Calibri"/>
              </a:rPr>
              <a:t>аудит 3+ + CJM + UX + ценовые решения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1554480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09176" y="1773936"/>
            <a:ext cx="384048" cy="384048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267712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Конверсия вместо бюджета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880360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8893B"/>
                </a:solidFill>
                <a:latin typeface="Calibri"/>
              </a:rPr>
              <a:t>МАРКЕТИНГ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312724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C7BC"/>
                </a:solidFill>
                <a:latin typeface="Calibri"/>
              </a:rPr>
              <a:t>диагностика воронки + CJM + брендформанс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867912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221D18"/>
          </a:solidFill>
          <a:ln w="19050">
            <a:solidFill>
              <a:srgbClr val="B88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2416" y="4087368"/>
            <a:ext cx="384048" cy="384048"/>
          </a:xfrm>
          <a:prstGeom prst="ellipse">
            <a:avLst/>
          </a:prstGeom>
          <a:solidFill>
            <a:srgbClr val="B88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581144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4B98F"/>
                </a:solidFill>
                <a:latin typeface="Calibri"/>
              </a:rPr>
              <a:t>★ Выполнение плана продаж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19379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8893B"/>
                </a:solidFill>
                <a:latin typeface="Calibri"/>
              </a:rPr>
              <a:t>ФЛАГМАН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440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C7BC"/>
                </a:solidFill>
                <a:latin typeface="Calibri"/>
              </a:rPr>
              <a:t>диагностика + ИИ-звонки + ОП + агенты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79" y="3867912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31335" y="4087368"/>
            <a:ext cx="384048" cy="384048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3048" y="4581144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Бренд, который продаёт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3048" y="519379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8893B"/>
                </a:solidFill>
                <a:latin typeface="Calibri"/>
              </a:rPr>
              <a:t>ПРЕМИУМ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3048" y="5440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C7BC"/>
                </a:solidFill>
                <a:latin typeface="Calibri"/>
              </a:rPr>
              <a:t>бренд-платформа + рамка на год + спецпроект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867912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20256" y="4087368"/>
            <a:ext cx="384048" cy="384048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4581144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Курортный / коллекционный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519379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8893B"/>
                </a:solidFill>
                <a:latin typeface="Calibri"/>
              </a:rPr>
              <a:t>КУРОРТ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5440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C7BC"/>
                </a:solidFill>
                <a:latin typeface="Calibri"/>
              </a:rPr>
              <a:t>легенда + бренд + видео + CRM-прогрев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19" y="3867912"/>
            <a:ext cx="2670048" cy="2148840"/>
          </a:xfrm>
          <a:prstGeom prst="roundRect">
            <a:avLst>
              <a:gd name="adj" fmla="val 6000"/>
            </a:avLst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09176" y="4087368"/>
            <a:ext cx="384048" cy="384048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4581144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Продукт под новую экономику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0888" y="5193792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8893B"/>
                </a:solidFill>
                <a:latin typeface="Calibri"/>
              </a:rPr>
              <a:t>ЛЮБОЙ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90888" y="5440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FC7BC"/>
                </a:solidFill>
                <a:latin typeface="Calibri"/>
              </a:rPr>
              <a:t>стратегия + мастер-план + эскиз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8893B"/>
                </a:solidFill>
                <a:latin typeface="Calibri"/>
              </a:rPr>
              <a:t>ЗОНА ДИФФЕРЕНЦИАЦИИ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6130F"/>
                </a:solidFill>
                <a:latin typeface="Calibri"/>
              </a:rPr>
              <a:t>Рынок фрагментирован — у каждого «белое пятно»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130F"/>
                </a:solidFill>
                <a:latin typeface="Calibri"/>
              </a:rPr>
              <a:t>Стратеги-консультанты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0545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A443C"/>
                </a:solidFill>
                <a:latin typeface="Calibri"/>
              </a:rPr>
              <a:t>GMK, DEVISION, Манн-Черемных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907791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Calibri"/>
              </a:rPr>
              <a:t>✓ </a:t>
            </a:r>
            <a:r>
              <a:rPr sz="1150" b="0" i="0">
                <a:solidFill>
                  <a:srgbClr val="4A443C"/>
                </a:solidFill>
                <a:latin typeface="Calibri"/>
              </a:rPr>
              <a:t>Сильны в продукте и стратегии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10128"/>
            <a:ext cx="30083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E4127"/>
                </a:solidFill>
                <a:latin typeface="Calibri"/>
              </a:rPr>
              <a:t>Белое пятно: </a:t>
            </a:r>
            <a:r>
              <a:rPr sz="1150" b="0" i="0">
                <a:solidFill>
                  <a:srgbClr val="4A443C"/>
                </a:solidFill>
                <a:latin typeface="Calibri"/>
              </a:rPr>
              <a:t>перформанс, сайты, лидген — на сторону → «стратеги без рук»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8288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130F"/>
                </a:solidFill>
                <a:latin typeface="Calibri"/>
              </a:rPr>
              <a:t>Proptech / аналитика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50545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A443C"/>
                </a:solidFill>
                <a:latin typeface="Calibri"/>
              </a:rPr>
              <a:t>Profitbase, Smartis, MACON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907791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Calibri"/>
              </a:rPr>
              <a:t>✓ </a:t>
            </a:r>
            <a:r>
              <a:rPr sz="1150" b="0" i="0">
                <a:solidFill>
                  <a:srgbClr val="4A443C"/>
                </a:solidFill>
                <a:latin typeface="Calibri"/>
              </a:rPr>
              <a:t>Данные, CRM, сквозная аналитика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310128"/>
            <a:ext cx="30083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E4127"/>
                </a:solidFill>
                <a:latin typeface="Calibri"/>
              </a:rPr>
              <a:t>Белое пятно: </a:t>
            </a:r>
            <a:r>
              <a:rPr sz="1150" b="0" i="0">
                <a:solidFill>
                  <a:srgbClr val="4A443C"/>
                </a:solidFill>
                <a:latin typeface="Calibri"/>
              </a:rPr>
              <a:t>не делают креатив и бренд → «инструменты без креатива»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828800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2EFE9"/>
          </a:solidFill>
          <a:ln>
            <a:noFill/>
          </a:ln>
          <a:effectLst/>
          <a:effectLst>
            <a:outerShdw blurRad="90000" dist="38000" dir="5400000" rotWithShape="0">
              <a:srgbClr val="16130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066543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6130F"/>
                </a:solidFill>
                <a:latin typeface="Calibri"/>
              </a:rPr>
              <a:t>Брендинг-бюро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50545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A443C"/>
                </a:solidFill>
                <a:latin typeface="Calibri"/>
              </a:rPr>
              <a:t>DDVB, Repina, Marten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907791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Calibri"/>
              </a:rPr>
              <a:t>✓ </a:t>
            </a:r>
            <a:r>
              <a:rPr sz="1150" b="0" i="0">
                <a:solidFill>
                  <a:srgbClr val="4A443C"/>
                </a:solidFill>
                <a:latin typeface="Calibri"/>
              </a:rPr>
              <a:t>Креатив и дизайн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310128"/>
            <a:ext cx="30083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E4127"/>
                </a:solidFill>
                <a:latin typeface="Calibri"/>
              </a:rPr>
              <a:t>Белое пятно: </a:t>
            </a:r>
            <a:r>
              <a:rPr sz="1150" b="0" i="0">
                <a:solidFill>
                  <a:srgbClr val="4A443C"/>
                </a:solidFill>
                <a:latin typeface="Calibri"/>
              </a:rPr>
              <a:t>не отвечают за продажи и лиды → «креатив без продаж»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15968"/>
            <a:ext cx="10515600" cy="1737360"/>
          </a:xfrm>
          <a:prstGeom prst="roundRect">
            <a:avLst>
              <a:gd name="adj" fmla="val 6000"/>
            </a:avLst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572000"/>
            <a:ext cx="548640" cy="548640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57200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4B98F"/>
                </a:solidFill>
                <a:latin typeface="Calibri"/>
              </a:rPr>
              <a:t>Бюро Сучкова — полный цикл одной командой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749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DD4C8"/>
                </a:solidFill>
                <a:latin typeface="Calibri"/>
              </a:rPr>
              <a:t>Соединяет премиальный бренд/дизайн с перформансом и измеримыми продажами. Единое окно, end-to-end ответственность от продуктовой гипотезы до сделки — то, чего нет ни у стратегов, ни у proptech, ни у брендинговых бюро.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3657600"/>
            <a:ext cx="3840480" cy="3840480"/>
          </a:xfrm>
          <a:prstGeom prst="ellipse">
            <a:avLst/>
          </a:prstGeom>
          <a:solidFill>
            <a:srgbClr val="22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2A07A"/>
                </a:solidFill>
                <a:latin typeface="Calibri"/>
              </a:rPr>
              <a:t>КАК ЭТО ИСПОЛЬЗОВАТЬ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Один canvas — три задачи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670048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Продажи и питч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072384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FC7BC"/>
                </a:solidFill>
                <a:latin typeface="Calibri"/>
              </a:rPr>
              <a:t>Говорить с девелопером на языке его боли (jobs/pains) и подкреплять цифрами рынка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721607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Упаковка услуг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123944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FC7BC"/>
                </a:solidFill>
                <a:latin typeface="Calibri"/>
              </a:rPr>
              <a:t>Продавать бандлы «от боли» вместо разрозненных услуг — выше чек и удержание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754879"/>
            <a:ext cx="548640" cy="548640"/>
          </a:xfrm>
          <a:prstGeom prst="ellipse">
            <a:avLst/>
          </a:prstGeom>
          <a:solidFill>
            <a:srgbClr val="C26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773167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Маркетинг-материалы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175503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FC7BC"/>
                </a:solidFill>
                <a:latin typeface="Calibri"/>
              </a:rPr>
              <a:t>Лендинг, презентация, контент для входящих лидов на основе профиля и тезиса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479"/>
                </a:solidFill>
                <a:latin typeface="Calibri"/>
              </a:rPr>
              <a:t>Артефакты: интерактивный HTML-canvas · PDF-постер · эта презентация · отчёт-синтез с источниками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A443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